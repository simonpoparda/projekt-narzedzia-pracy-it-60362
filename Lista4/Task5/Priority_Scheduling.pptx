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l-PL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1231AD-82D5-4F81-9E4D-D3668579923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241D38B-7C45-49B9-A952-26729E3DE4A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827EF9D1-8BF6-4E41-80E9-A782CCEFF8F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FF422D20-5443-4A44-A3BC-024A5F8670E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14097507-546B-42B2-B790-F1ED9FC742F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718A0207-ED69-4553-8202-1A2FD6DECB3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6BF32F8B-E105-43EB-9780-07D22EEA4DE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EEC3BB5B-000B-4B11-96C6-1CC3CAFE51B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945EC517-D131-41FF-A742-0765A7C204D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B92FE984-7356-4E1F-A925-12C172A081E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466364F3-E744-40D7-9618-D6FC2537FF9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&lt;data/godzina&gt;</a:t>
            </a:r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&lt;stopka&gt;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D65E781-1D37-4A43-8672-FA40F22E77E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&lt;data/godzina&gt;</a:t>
            </a:r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&lt;stopka&gt;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F53711B-8BA3-48A6-B734-84D782CE1B4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&lt;data/godzina&gt;</a:t>
            </a:r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&lt;stopka&gt;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09027C4-08C0-452A-ADAB-BA7E55DB900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&lt;data/godzina&gt;</a:t>
            </a:r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&lt;stopka&gt;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56ED624-95DD-40BC-B15D-A7671F0BBB7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&lt;data/godzina&gt;</a:t>
            </a:r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&lt;stopka&gt;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00D4E2B-B0C2-4B56-8E3E-A8331C3460C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&lt;data/godzina&gt;</a:t>
            </a:r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&lt;stopka&gt;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4DD90B6-2578-4DB3-97CF-2F5025AD5AD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&lt;data/godzina&gt;</a:t>
            </a:r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&lt;stopka&gt;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5F4E848-BD02-4261-8C01-6CF9FF20710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&lt;data/godzina&gt;</a:t>
            </a:r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&lt;stopka&gt;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B9EE03A-732B-41C9-AAC8-06A11164C5B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&lt;data/godzina&gt;</a:t>
            </a:r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&lt;stopka&gt;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AABB9DE-A72B-4363-ABA7-BA5EEB7C08D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Kliknij, aby edytować format tekstu tytułu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Kliknij, aby edytować format tekstu konspektu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Drugi poziom konspektu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Trzeci poziom konspektu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Czwarty poziom konspektu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Piąty poziom konspektu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Szósty poziom konspektu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Siódmy poziom konspektu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&lt;data/godzina&gt;</a:t>
            </a:r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&lt;stopka&gt;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164140B-DEC1-4976-8B63-F3A1A4FC494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Kliknij, aby edytować format tekstu konspektu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Drugi poziom konspektu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Trzeci poziom konspektu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Czwarty poziom konspektu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Piąty poziom konspektu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Szósty poziom konspektu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Siódmy poziom konspektu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&lt;data/godzina&gt;</a:t>
            </a:r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&lt;stopka&gt;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9621B73-943D-487B-AB52-C9A03E72603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572400" y="2286000"/>
            <a:ext cx="799920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000" spc="-1" strike="noStrike">
                <a:solidFill>
                  <a:schemeClr val="dk1"/>
                </a:solidFill>
                <a:latin typeface="Calibri"/>
              </a:rPr>
              <a:t>Process Priority in Operating Systems</a:t>
            </a:r>
            <a:endParaRPr b="0" lang="pl-PL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2928240" y="4114800"/>
            <a:ext cx="32871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Szymon Poparda | 60362</a:t>
            </a:r>
            <a:endParaRPr b="0" lang="pl-PL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1"/>
          <p:cNvSpPr/>
          <p:nvPr/>
        </p:nvSpPr>
        <p:spPr>
          <a:xfrm>
            <a:off x="1872000" y="457200"/>
            <a:ext cx="539928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chemeClr val="dk1"/>
                </a:solidFill>
                <a:latin typeface="Calibri"/>
              </a:rPr>
              <a:t>What is Process Priority?</a:t>
            </a:r>
            <a:endParaRPr b="0" lang="pl-PL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Box 2"/>
          <p:cNvSpPr/>
          <p:nvPr/>
        </p:nvSpPr>
        <p:spPr>
          <a:xfrm>
            <a:off x="914400" y="1645920"/>
            <a:ext cx="7314840" cy="16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Process priority determines the order of CPU scheduling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Higher priority processes get more CPU time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Kernel scheduler uses priority to allocate resources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Affects process responsiveness and throughput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Different scheduling algorithms (FCFS, RR, Priority Queue)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Box 1"/>
          <p:cNvSpPr/>
          <p:nvPr/>
        </p:nvSpPr>
        <p:spPr>
          <a:xfrm>
            <a:off x="2125080" y="457200"/>
            <a:ext cx="489312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chemeClr val="dk1"/>
                </a:solidFill>
                <a:latin typeface="Calibri"/>
              </a:rPr>
              <a:t>Priority Levels in Linux</a:t>
            </a:r>
            <a:endParaRPr b="0" lang="pl-PL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Box 2"/>
          <p:cNvSpPr/>
          <p:nvPr/>
        </p:nvSpPr>
        <p:spPr>
          <a:xfrm>
            <a:off x="457200" y="1645920"/>
            <a:ext cx="8229240" cy="25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Nice Values: -20 to +19 (lower = higher priority)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-20: Highest priority (system processes)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0: Default priority (normal processes)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+19: Lowest priority (background tasks)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Real-time Priority: 0-99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SCHED_FIFO: First-in, first-out scheduling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SCHED_RR: Round-robin scheduling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SCHED_OTHER: Standard time-sharing scheduling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Box 1"/>
          <p:cNvSpPr/>
          <p:nvPr/>
        </p:nvSpPr>
        <p:spPr>
          <a:xfrm>
            <a:off x="1816560" y="457200"/>
            <a:ext cx="551052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chemeClr val="dk1"/>
                </a:solidFill>
                <a:latin typeface="Calibri"/>
              </a:rPr>
              <a:t>Changing Process Priority</a:t>
            </a:r>
            <a:endParaRPr b="0" lang="pl-PL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Box 2"/>
          <p:cNvSpPr/>
          <p:nvPr/>
        </p:nvSpPr>
        <p:spPr>
          <a:xfrm>
            <a:off x="457200" y="1645920"/>
            <a:ext cx="8229240" cy="28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nice: Start a process with specific nice value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nice -n 10 ./program (start with priority +10)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nice -n -5 ./program (start with priority -5)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renice: Change priority of running process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renice +5 -p 1234 (increase nice by +5 for PID 1234)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renice -10 -p $$ (change current shell priority)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chrt: Change real-time scheduler and priority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chrt -p 50 1234 (set real-time priority 50 for PID)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1"/>
          <p:cNvSpPr/>
          <p:nvPr/>
        </p:nvSpPr>
        <p:spPr>
          <a:xfrm>
            <a:off x="1500840" y="457200"/>
            <a:ext cx="614160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chemeClr val="dk1"/>
                </a:solidFill>
                <a:latin typeface="Calibri"/>
              </a:rPr>
              <a:t>How Scheduler Uses Priority</a:t>
            </a:r>
            <a:endParaRPr b="0" lang="pl-PL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Box 2"/>
          <p:cNvSpPr/>
          <p:nvPr/>
        </p:nvSpPr>
        <p:spPr>
          <a:xfrm>
            <a:off x="457200" y="1645920"/>
            <a:ext cx="8229240" cy="28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1. Select ready process with highest priority from queue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2. Allocate time slice (quantum) to that process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3. Context switch when time slice expires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4. Move process back to queue or blocked state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5. Repeat with next highest priority process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Lower nice values get: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More CPU time per time slice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More frequent scheduling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Better responsiveness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LibreOffice/24.2.3.2$Windows_X86_64 LibreOffice_project/433d9c2ded56988e8a90e6b2e771ee4e6a5ab2ba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pl-PL</dc:language>
  <cp:lastModifiedBy/>
  <dcterms:modified xsi:type="dcterms:W3CDTF">2026-04-25T19:14:59Z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